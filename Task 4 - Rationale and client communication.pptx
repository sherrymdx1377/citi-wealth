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p:restoredTop sz="81358"/>
  </p:normalViewPr>
  <p:slideViewPr>
    <p:cSldViewPr snapToGrid="0">
      <p:cViewPr varScale="1">
        <p:scale>
          <a:sx n="67" d="100"/>
          <a:sy n="67" d="100"/>
        </p:scale>
        <p:origin x="136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634784-5D7E-B544-8719-729161E26704}" type="doc">
      <dgm:prSet loTypeId="urn:microsoft.com/office/officeart/2005/8/layout/process1" loCatId="" qsTypeId="urn:microsoft.com/office/officeart/2005/8/quickstyle/simple1" qsCatId="simple" csTypeId="urn:microsoft.com/office/officeart/2005/8/colors/accent1_2" csCatId="accent1" phldr="1"/>
      <dgm:spPr/>
    </dgm:pt>
    <dgm:pt modelId="{D026B890-63BB-6945-85AE-B3E9FE55C94A}">
      <dgm:prSet phldrT="[Text]"/>
      <dgm:spPr/>
      <dgm:t>
        <a:bodyPr/>
        <a:lstStyle/>
        <a:p>
          <a:pPr>
            <a:buFont typeface="Arial" panose="020B0604020202020204" pitchFamily="34" charset="0"/>
            <a:buChar char="•"/>
          </a:pPr>
          <a:r>
            <a:rPr lang="en-US" b="1" i="0" dirty="0">
              <a:effectLst/>
            </a:rPr>
            <a:t>Review and Approval Process</a:t>
          </a:r>
          <a:r>
            <a:rPr lang="en-US" b="0" i="0" dirty="0">
              <a:effectLst/>
            </a:rPr>
            <a:t>: Alex to review the proposed strategy and provide approval to proceed.</a:t>
          </a:r>
          <a:endParaRPr lang="en-US" dirty="0"/>
        </a:p>
      </dgm:t>
    </dgm:pt>
    <dgm:pt modelId="{DCB08666-AF15-1C4D-8568-07A15A3470EB}" type="parTrans" cxnId="{B08FF261-45C2-F747-8146-CDD2C16AEE96}">
      <dgm:prSet/>
      <dgm:spPr/>
      <dgm:t>
        <a:bodyPr/>
        <a:lstStyle/>
        <a:p>
          <a:endParaRPr lang="en-US"/>
        </a:p>
      </dgm:t>
    </dgm:pt>
    <dgm:pt modelId="{837ABC23-8FEA-B940-9DE7-1284357487A5}" type="sibTrans" cxnId="{B08FF261-45C2-F747-8146-CDD2C16AEE96}">
      <dgm:prSet/>
      <dgm:spPr/>
      <dgm:t>
        <a:bodyPr/>
        <a:lstStyle/>
        <a:p>
          <a:endParaRPr lang="en-US"/>
        </a:p>
      </dgm:t>
    </dgm:pt>
    <dgm:pt modelId="{8EFEB6D5-61C1-8343-87F9-361B6451D721}">
      <dgm:prSet/>
      <dgm:spPr/>
      <dgm:t>
        <a:bodyPr/>
        <a:lstStyle/>
        <a:p>
          <a:r>
            <a:rPr lang="en-US" b="1" i="0">
              <a:effectLst/>
            </a:rPr>
            <a:t>Portfolio Monitoring and Adjustments</a:t>
          </a:r>
          <a:r>
            <a:rPr lang="en-US" b="0" i="0">
              <a:effectLst/>
            </a:rPr>
            <a:t>: Continuous oversight with adjustments as needed to stay aligned with goals.</a:t>
          </a:r>
          <a:endParaRPr lang="en-US" b="0" i="0" dirty="0">
            <a:effectLst/>
          </a:endParaRPr>
        </a:p>
      </dgm:t>
    </dgm:pt>
    <dgm:pt modelId="{53C51FC6-04D6-D042-BD49-7BEE9FBC6778}" type="parTrans" cxnId="{DE347764-77C1-B142-9783-BFE8E0023567}">
      <dgm:prSet/>
      <dgm:spPr/>
      <dgm:t>
        <a:bodyPr/>
        <a:lstStyle/>
        <a:p>
          <a:endParaRPr lang="en-US"/>
        </a:p>
      </dgm:t>
    </dgm:pt>
    <dgm:pt modelId="{E3208266-2BDC-0C46-87D2-F89206AFBF53}" type="sibTrans" cxnId="{DE347764-77C1-B142-9783-BFE8E0023567}">
      <dgm:prSet/>
      <dgm:spPr/>
      <dgm:t>
        <a:bodyPr/>
        <a:lstStyle/>
        <a:p>
          <a:endParaRPr lang="en-US"/>
        </a:p>
      </dgm:t>
    </dgm:pt>
    <dgm:pt modelId="{C2010791-62A3-2648-A863-1AAD74D2CC8A}">
      <dgm:prSet/>
      <dgm:spPr/>
      <dgm:t>
        <a:bodyPr/>
        <a:lstStyle/>
        <a:p>
          <a:r>
            <a:rPr lang="en-US" b="1" i="0">
              <a:effectLst/>
            </a:rPr>
            <a:t>Open Communication</a:t>
          </a:r>
          <a:r>
            <a:rPr lang="en-US" b="0" i="0">
              <a:effectLst/>
            </a:rPr>
            <a:t>: Commitment to transparency, regular updates, and addressing any questions or concerns.</a:t>
          </a:r>
          <a:endParaRPr lang="en-US" b="0" i="0" dirty="0">
            <a:effectLst/>
          </a:endParaRPr>
        </a:p>
      </dgm:t>
    </dgm:pt>
    <dgm:pt modelId="{C9E364D3-894D-5847-B881-7A517230B5F7}" type="parTrans" cxnId="{B323A198-CB03-2148-BE35-EAC3AA23DDBC}">
      <dgm:prSet/>
      <dgm:spPr/>
      <dgm:t>
        <a:bodyPr/>
        <a:lstStyle/>
        <a:p>
          <a:endParaRPr lang="en-US"/>
        </a:p>
      </dgm:t>
    </dgm:pt>
    <dgm:pt modelId="{6287D98A-1B83-8E47-AC9E-AF20E677108C}" type="sibTrans" cxnId="{B323A198-CB03-2148-BE35-EAC3AA23DDBC}">
      <dgm:prSet/>
      <dgm:spPr/>
      <dgm:t>
        <a:bodyPr/>
        <a:lstStyle/>
        <a:p>
          <a:endParaRPr lang="en-US"/>
        </a:p>
      </dgm:t>
    </dgm:pt>
    <dgm:pt modelId="{40D26C21-1F77-3F4D-A441-D41BB46C5CEF}">
      <dgm:prSet/>
      <dgm:spPr/>
      <dgm:t>
        <a:bodyPr/>
        <a:lstStyle/>
        <a:p>
          <a:r>
            <a:rPr lang="en-US" b="1" i="0">
              <a:effectLst/>
            </a:rPr>
            <a:t>Educational Support</a:t>
          </a:r>
          <a:r>
            <a:rPr lang="en-US" b="0" i="0">
              <a:effectLst/>
            </a:rPr>
            <a:t>: Ongoing resources and discussions to enhance financial understanding.</a:t>
          </a:r>
          <a:endParaRPr lang="en-US" b="0" i="0" dirty="0">
            <a:effectLst/>
          </a:endParaRPr>
        </a:p>
      </dgm:t>
    </dgm:pt>
    <dgm:pt modelId="{4716CAA1-B57C-6B4D-8840-D43FCA90E40A}" type="parTrans" cxnId="{8EFED06D-5074-2042-B369-F53527288D3E}">
      <dgm:prSet/>
      <dgm:spPr/>
      <dgm:t>
        <a:bodyPr/>
        <a:lstStyle/>
        <a:p>
          <a:endParaRPr lang="en-US"/>
        </a:p>
      </dgm:t>
    </dgm:pt>
    <dgm:pt modelId="{8B8E8326-0D9D-F345-9DBD-73062D177352}" type="sibTrans" cxnId="{8EFED06D-5074-2042-B369-F53527288D3E}">
      <dgm:prSet/>
      <dgm:spPr/>
      <dgm:t>
        <a:bodyPr/>
        <a:lstStyle/>
        <a:p>
          <a:endParaRPr lang="en-US"/>
        </a:p>
      </dgm:t>
    </dgm:pt>
    <dgm:pt modelId="{40463211-3F2D-9E43-80E6-B5D345959C52}">
      <dgm:prSet/>
      <dgm:spPr/>
      <dgm:t>
        <a:bodyPr/>
        <a:lstStyle/>
        <a:p>
          <a:r>
            <a:rPr lang="en-US" b="1" i="0" dirty="0">
              <a:effectLst/>
            </a:rPr>
            <a:t>Annual Review Meetings</a:t>
          </a:r>
          <a:r>
            <a:rPr lang="en-US" b="0" i="0" dirty="0">
              <a:effectLst/>
            </a:rPr>
            <a:t>: Scheduled deep dives to evaluate performance and adapt to any changes in financial objectives.</a:t>
          </a:r>
        </a:p>
      </dgm:t>
    </dgm:pt>
    <dgm:pt modelId="{87CCAD02-6127-3B4F-A041-67CB62F0F19F}" type="parTrans" cxnId="{2F110225-737A-664B-8A80-84AA1E89443D}">
      <dgm:prSet/>
      <dgm:spPr/>
      <dgm:t>
        <a:bodyPr/>
        <a:lstStyle/>
        <a:p>
          <a:endParaRPr lang="en-US"/>
        </a:p>
      </dgm:t>
    </dgm:pt>
    <dgm:pt modelId="{75A7256B-5DEE-2440-9CDB-4A2725581CCB}" type="sibTrans" cxnId="{2F110225-737A-664B-8A80-84AA1E89443D}">
      <dgm:prSet/>
      <dgm:spPr/>
      <dgm:t>
        <a:bodyPr/>
        <a:lstStyle/>
        <a:p>
          <a:endParaRPr lang="en-US"/>
        </a:p>
      </dgm:t>
    </dgm:pt>
    <dgm:pt modelId="{36156780-DA29-C54D-B5C0-E6AA689B49B7}" type="pres">
      <dgm:prSet presAssocID="{4C634784-5D7E-B544-8719-729161E26704}" presName="Name0" presStyleCnt="0">
        <dgm:presLayoutVars>
          <dgm:dir/>
          <dgm:resizeHandles val="exact"/>
        </dgm:presLayoutVars>
      </dgm:prSet>
      <dgm:spPr/>
    </dgm:pt>
    <dgm:pt modelId="{3151B692-DF4A-3749-8E95-D379FCB8FF70}" type="pres">
      <dgm:prSet presAssocID="{D026B890-63BB-6945-85AE-B3E9FE55C94A}" presName="node" presStyleLbl="node1" presStyleIdx="0" presStyleCnt="5">
        <dgm:presLayoutVars>
          <dgm:bulletEnabled val="1"/>
        </dgm:presLayoutVars>
      </dgm:prSet>
      <dgm:spPr/>
    </dgm:pt>
    <dgm:pt modelId="{54DB7560-CDB3-E648-BDB4-B68CAA986475}" type="pres">
      <dgm:prSet presAssocID="{837ABC23-8FEA-B940-9DE7-1284357487A5}" presName="sibTrans" presStyleLbl="sibTrans2D1" presStyleIdx="0" presStyleCnt="4"/>
      <dgm:spPr/>
    </dgm:pt>
    <dgm:pt modelId="{7ACEA876-2A0E-2A45-B50C-28457097236C}" type="pres">
      <dgm:prSet presAssocID="{837ABC23-8FEA-B940-9DE7-1284357487A5}" presName="connectorText" presStyleLbl="sibTrans2D1" presStyleIdx="0" presStyleCnt="4"/>
      <dgm:spPr/>
    </dgm:pt>
    <dgm:pt modelId="{565A3F8C-3D64-4941-AE1C-D29BFE7F5E7D}" type="pres">
      <dgm:prSet presAssocID="{8EFEB6D5-61C1-8343-87F9-361B6451D721}" presName="node" presStyleLbl="node1" presStyleIdx="1" presStyleCnt="5">
        <dgm:presLayoutVars>
          <dgm:bulletEnabled val="1"/>
        </dgm:presLayoutVars>
      </dgm:prSet>
      <dgm:spPr/>
    </dgm:pt>
    <dgm:pt modelId="{95CBD9EE-EB79-CF4C-9C00-DCB13A2DE576}" type="pres">
      <dgm:prSet presAssocID="{E3208266-2BDC-0C46-87D2-F89206AFBF53}" presName="sibTrans" presStyleLbl="sibTrans2D1" presStyleIdx="1" presStyleCnt="4"/>
      <dgm:spPr/>
    </dgm:pt>
    <dgm:pt modelId="{B6BA841E-654E-434C-915F-D298BE539099}" type="pres">
      <dgm:prSet presAssocID="{E3208266-2BDC-0C46-87D2-F89206AFBF53}" presName="connectorText" presStyleLbl="sibTrans2D1" presStyleIdx="1" presStyleCnt="4"/>
      <dgm:spPr/>
    </dgm:pt>
    <dgm:pt modelId="{90E7ADF4-A908-9A41-B201-14A9DCA1159D}" type="pres">
      <dgm:prSet presAssocID="{C2010791-62A3-2648-A863-1AAD74D2CC8A}" presName="node" presStyleLbl="node1" presStyleIdx="2" presStyleCnt="5">
        <dgm:presLayoutVars>
          <dgm:bulletEnabled val="1"/>
        </dgm:presLayoutVars>
      </dgm:prSet>
      <dgm:spPr/>
    </dgm:pt>
    <dgm:pt modelId="{21011A90-C151-9941-AE9E-82CC2634A460}" type="pres">
      <dgm:prSet presAssocID="{6287D98A-1B83-8E47-AC9E-AF20E677108C}" presName="sibTrans" presStyleLbl="sibTrans2D1" presStyleIdx="2" presStyleCnt="4"/>
      <dgm:spPr/>
    </dgm:pt>
    <dgm:pt modelId="{4D148192-E087-E742-AEF7-DB91AB7F04EB}" type="pres">
      <dgm:prSet presAssocID="{6287D98A-1B83-8E47-AC9E-AF20E677108C}" presName="connectorText" presStyleLbl="sibTrans2D1" presStyleIdx="2" presStyleCnt="4"/>
      <dgm:spPr/>
    </dgm:pt>
    <dgm:pt modelId="{97B11036-FF97-6847-896C-0A4481CB2048}" type="pres">
      <dgm:prSet presAssocID="{40D26C21-1F77-3F4D-A441-D41BB46C5CEF}" presName="node" presStyleLbl="node1" presStyleIdx="3" presStyleCnt="5">
        <dgm:presLayoutVars>
          <dgm:bulletEnabled val="1"/>
        </dgm:presLayoutVars>
      </dgm:prSet>
      <dgm:spPr/>
    </dgm:pt>
    <dgm:pt modelId="{74BFC675-28DA-9448-92E8-958164747EC4}" type="pres">
      <dgm:prSet presAssocID="{8B8E8326-0D9D-F345-9DBD-73062D177352}" presName="sibTrans" presStyleLbl="sibTrans2D1" presStyleIdx="3" presStyleCnt="4"/>
      <dgm:spPr/>
    </dgm:pt>
    <dgm:pt modelId="{B8DDD0E2-1F5D-314E-A412-D850C89FA22E}" type="pres">
      <dgm:prSet presAssocID="{8B8E8326-0D9D-F345-9DBD-73062D177352}" presName="connectorText" presStyleLbl="sibTrans2D1" presStyleIdx="3" presStyleCnt="4"/>
      <dgm:spPr/>
    </dgm:pt>
    <dgm:pt modelId="{BEE003D8-769D-7640-975C-DB6CA44DD2B8}" type="pres">
      <dgm:prSet presAssocID="{40463211-3F2D-9E43-80E6-B5D345959C52}" presName="node" presStyleLbl="node1" presStyleIdx="4" presStyleCnt="5">
        <dgm:presLayoutVars>
          <dgm:bulletEnabled val="1"/>
        </dgm:presLayoutVars>
      </dgm:prSet>
      <dgm:spPr/>
    </dgm:pt>
  </dgm:ptLst>
  <dgm:cxnLst>
    <dgm:cxn modelId="{2F110225-737A-664B-8A80-84AA1E89443D}" srcId="{4C634784-5D7E-B544-8719-729161E26704}" destId="{40463211-3F2D-9E43-80E6-B5D345959C52}" srcOrd="4" destOrd="0" parTransId="{87CCAD02-6127-3B4F-A041-67CB62F0F19F}" sibTransId="{75A7256B-5DEE-2440-9CDB-4A2725581CCB}"/>
    <dgm:cxn modelId="{E0B9DA33-4D9D-7F49-916C-1F647119951F}" type="presOf" srcId="{6287D98A-1B83-8E47-AC9E-AF20E677108C}" destId="{21011A90-C151-9941-AE9E-82CC2634A460}" srcOrd="0" destOrd="0" presId="urn:microsoft.com/office/officeart/2005/8/layout/process1"/>
    <dgm:cxn modelId="{B08FF261-45C2-F747-8146-CDD2C16AEE96}" srcId="{4C634784-5D7E-B544-8719-729161E26704}" destId="{D026B890-63BB-6945-85AE-B3E9FE55C94A}" srcOrd="0" destOrd="0" parTransId="{DCB08666-AF15-1C4D-8568-07A15A3470EB}" sibTransId="{837ABC23-8FEA-B940-9DE7-1284357487A5}"/>
    <dgm:cxn modelId="{C928BE63-A79A-9445-AC12-2441C2FD0818}" type="presOf" srcId="{6287D98A-1B83-8E47-AC9E-AF20E677108C}" destId="{4D148192-E087-E742-AEF7-DB91AB7F04EB}" srcOrd="1" destOrd="0" presId="urn:microsoft.com/office/officeart/2005/8/layout/process1"/>
    <dgm:cxn modelId="{DE347764-77C1-B142-9783-BFE8E0023567}" srcId="{4C634784-5D7E-B544-8719-729161E26704}" destId="{8EFEB6D5-61C1-8343-87F9-361B6451D721}" srcOrd="1" destOrd="0" parTransId="{53C51FC6-04D6-D042-BD49-7BEE9FBC6778}" sibTransId="{E3208266-2BDC-0C46-87D2-F89206AFBF53}"/>
    <dgm:cxn modelId="{8EFED06D-5074-2042-B369-F53527288D3E}" srcId="{4C634784-5D7E-B544-8719-729161E26704}" destId="{40D26C21-1F77-3F4D-A441-D41BB46C5CEF}" srcOrd="3" destOrd="0" parTransId="{4716CAA1-B57C-6B4D-8840-D43FCA90E40A}" sibTransId="{8B8E8326-0D9D-F345-9DBD-73062D177352}"/>
    <dgm:cxn modelId="{7C9CAC74-694E-DE44-8D9B-3B770D8DB5F3}" type="presOf" srcId="{837ABC23-8FEA-B940-9DE7-1284357487A5}" destId="{54DB7560-CDB3-E648-BDB4-B68CAA986475}" srcOrd="0" destOrd="0" presId="urn:microsoft.com/office/officeart/2005/8/layout/process1"/>
    <dgm:cxn modelId="{D0FA0555-01A0-774C-B928-448F524DF5CC}" type="presOf" srcId="{E3208266-2BDC-0C46-87D2-F89206AFBF53}" destId="{B6BA841E-654E-434C-915F-D298BE539099}" srcOrd="1" destOrd="0" presId="urn:microsoft.com/office/officeart/2005/8/layout/process1"/>
    <dgm:cxn modelId="{AFBEB090-F553-5743-9A34-010D24E89301}" type="presOf" srcId="{C2010791-62A3-2648-A863-1AAD74D2CC8A}" destId="{90E7ADF4-A908-9A41-B201-14A9DCA1159D}" srcOrd="0" destOrd="0" presId="urn:microsoft.com/office/officeart/2005/8/layout/process1"/>
    <dgm:cxn modelId="{B323A198-CB03-2148-BE35-EAC3AA23DDBC}" srcId="{4C634784-5D7E-B544-8719-729161E26704}" destId="{C2010791-62A3-2648-A863-1AAD74D2CC8A}" srcOrd="2" destOrd="0" parTransId="{C9E364D3-894D-5847-B881-7A517230B5F7}" sibTransId="{6287D98A-1B83-8E47-AC9E-AF20E677108C}"/>
    <dgm:cxn modelId="{AE022DA4-556A-9D42-9215-F50D84AF8DA9}" type="presOf" srcId="{40463211-3F2D-9E43-80E6-B5D345959C52}" destId="{BEE003D8-769D-7640-975C-DB6CA44DD2B8}" srcOrd="0" destOrd="0" presId="urn:microsoft.com/office/officeart/2005/8/layout/process1"/>
    <dgm:cxn modelId="{06AB74B0-04F8-2845-8C07-3C221519FA5C}" type="presOf" srcId="{40D26C21-1F77-3F4D-A441-D41BB46C5CEF}" destId="{97B11036-FF97-6847-896C-0A4481CB2048}" srcOrd="0" destOrd="0" presId="urn:microsoft.com/office/officeart/2005/8/layout/process1"/>
    <dgm:cxn modelId="{57A486B9-7335-864C-9AA2-28C4F088CFAF}" type="presOf" srcId="{837ABC23-8FEA-B940-9DE7-1284357487A5}" destId="{7ACEA876-2A0E-2A45-B50C-28457097236C}" srcOrd="1" destOrd="0" presId="urn:microsoft.com/office/officeart/2005/8/layout/process1"/>
    <dgm:cxn modelId="{474A3DC3-8D82-4141-BC39-8EEAFD5DF9B4}" type="presOf" srcId="{8EFEB6D5-61C1-8343-87F9-361B6451D721}" destId="{565A3F8C-3D64-4941-AE1C-D29BFE7F5E7D}" srcOrd="0" destOrd="0" presId="urn:microsoft.com/office/officeart/2005/8/layout/process1"/>
    <dgm:cxn modelId="{9868DFC3-902F-CA46-883C-5A04A77331EE}" type="presOf" srcId="{4C634784-5D7E-B544-8719-729161E26704}" destId="{36156780-DA29-C54D-B5C0-E6AA689B49B7}" srcOrd="0" destOrd="0" presId="urn:microsoft.com/office/officeart/2005/8/layout/process1"/>
    <dgm:cxn modelId="{D8FFA0C6-3C3E-4A4C-A6E1-93CB8AA65952}" type="presOf" srcId="{8B8E8326-0D9D-F345-9DBD-73062D177352}" destId="{74BFC675-28DA-9448-92E8-958164747EC4}" srcOrd="0" destOrd="0" presId="urn:microsoft.com/office/officeart/2005/8/layout/process1"/>
    <dgm:cxn modelId="{0E9031D9-C7A9-0E46-8FFC-AFB02ED4E59B}" type="presOf" srcId="{8B8E8326-0D9D-F345-9DBD-73062D177352}" destId="{B8DDD0E2-1F5D-314E-A412-D850C89FA22E}" srcOrd="1" destOrd="0" presId="urn:microsoft.com/office/officeart/2005/8/layout/process1"/>
    <dgm:cxn modelId="{C0BCB5DB-5C3E-734E-B6DA-E87AAF12033F}" type="presOf" srcId="{D026B890-63BB-6945-85AE-B3E9FE55C94A}" destId="{3151B692-DF4A-3749-8E95-D379FCB8FF70}" srcOrd="0" destOrd="0" presId="urn:microsoft.com/office/officeart/2005/8/layout/process1"/>
    <dgm:cxn modelId="{F29A82DD-885F-3E48-BB47-A94BCD479C4E}" type="presOf" srcId="{E3208266-2BDC-0C46-87D2-F89206AFBF53}" destId="{95CBD9EE-EB79-CF4C-9C00-DCB13A2DE576}" srcOrd="0" destOrd="0" presId="urn:microsoft.com/office/officeart/2005/8/layout/process1"/>
    <dgm:cxn modelId="{A3EF6922-F135-C24B-8C2A-2D21ECA0F393}" type="presParOf" srcId="{36156780-DA29-C54D-B5C0-E6AA689B49B7}" destId="{3151B692-DF4A-3749-8E95-D379FCB8FF70}" srcOrd="0" destOrd="0" presId="urn:microsoft.com/office/officeart/2005/8/layout/process1"/>
    <dgm:cxn modelId="{D04A0AAE-6143-4040-9959-ED524B2D726E}" type="presParOf" srcId="{36156780-DA29-C54D-B5C0-E6AA689B49B7}" destId="{54DB7560-CDB3-E648-BDB4-B68CAA986475}" srcOrd="1" destOrd="0" presId="urn:microsoft.com/office/officeart/2005/8/layout/process1"/>
    <dgm:cxn modelId="{447D0F3A-207F-2E4D-BDEC-23A656E91D83}" type="presParOf" srcId="{54DB7560-CDB3-E648-BDB4-B68CAA986475}" destId="{7ACEA876-2A0E-2A45-B50C-28457097236C}" srcOrd="0" destOrd="0" presId="urn:microsoft.com/office/officeart/2005/8/layout/process1"/>
    <dgm:cxn modelId="{0F141BA0-BDD2-8845-9893-4D43ABCB0508}" type="presParOf" srcId="{36156780-DA29-C54D-B5C0-E6AA689B49B7}" destId="{565A3F8C-3D64-4941-AE1C-D29BFE7F5E7D}" srcOrd="2" destOrd="0" presId="urn:microsoft.com/office/officeart/2005/8/layout/process1"/>
    <dgm:cxn modelId="{F4AC13B2-F7AE-AB45-A4A9-08E59DE4D9C0}" type="presParOf" srcId="{36156780-DA29-C54D-B5C0-E6AA689B49B7}" destId="{95CBD9EE-EB79-CF4C-9C00-DCB13A2DE576}" srcOrd="3" destOrd="0" presId="urn:microsoft.com/office/officeart/2005/8/layout/process1"/>
    <dgm:cxn modelId="{F5D675B3-9F1C-6B4A-B194-7B9E34235C1C}" type="presParOf" srcId="{95CBD9EE-EB79-CF4C-9C00-DCB13A2DE576}" destId="{B6BA841E-654E-434C-915F-D298BE539099}" srcOrd="0" destOrd="0" presId="urn:microsoft.com/office/officeart/2005/8/layout/process1"/>
    <dgm:cxn modelId="{D5E9A896-9B4C-894F-A748-8970B35AE4DD}" type="presParOf" srcId="{36156780-DA29-C54D-B5C0-E6AA689B49B7}" destId="{90E7ADF4-A908-9A41-B201-14A9DCA1159D}" srcOrd="4" destOrd="0" presId="urn:microsoft.com/office/officeart/2005/8/layout/process1"/>
    <dgm:cxn modelId="{05608473-7D80-BA4F-AE88-6B35A7B79A78}" type="presParOf" srcId="{36156780-DA29-C54D-B5C0-E6AA689B49B7}" destId="{21011A90-C151-9941-AE9E-82CC2634A460}" srcOrd="5" destOrd="0" presId="urn:microsoft.com/office/officeart/2005/8/layout/process1"/>
    <dgm:cxn modelId="{B61DDF46-85C1-6645-A432-C8AB3A1E5A06}" type="presParOf" srcId="{21011A90-C151-9941-AE9E-82CC2634A460}" destId="{4D148192-E087-E742-AEF7-DB91AB7F04EB}" srcOrd="0" destOrd="0" presId="urn:microsoft.com/office/officeart/2005/8/layout/process1"/>
    <dgm:cxn modelId="{F70A1445-13BA-8540-9706-D704B4FC069B}" type="presParOf" srcId="{36156780-DA29-C54D-B5C0-E6AA689B49B7}" destId="{97B11036-FF97-6847-896C-0A4481CB2048}" srcOrd="6" destOrd="0" presId="urn:microsoft.com/office/officeart/2005/8/layout/process1"/>
    <dgm:cxn modelId="{642B91F4-6BD0-AE47-8670-DEFAD4A858D8}" type="presParOf" srcId="{36156780-DA29-C54D-B5C0-E6AA689B49B7}" destId="{74BFC675-28DA-9448-92E8-958164747EC4}" srcOrd="7" destOrd="0" presId="urn:microsoft.com/office/officeart/2005/8/layout/process1"/>
    <dgm:cxn modelId="{AF644010-6283-F147-BD51-383D05AF4564}" type="presParOf" srcId="{74BFC675-28DA-9448-92E8-958164747EC4}" destId="{B8DDD0E2-1F5D-314E-A412-D850C89FA22E}" srcOrd="0" destOrd="0" presId="urn:microsoft.com/office/officeart/2005/8/layout/process1"/>
    <dgm:cxn modelId="{B379C991-9240-7B4F-A911-ADC8E7E3291E}" type="presParOf" srcId="{36156780-DA29-C54D-B5C0-E6AA689B49B7}" destId="{BEE003D8-769D-7640-975C-DB6CA44DD2B8}"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1B692-DF4A-3749-8E95-D379FCB8FF70}">
      <dsp:nvSpPr>
        <dsp:cNvPr id="0" name=""/>
        <dsp:cNvSpPr/>
      </dsp:nvSpPr>
      <dsp:spPr>
        <a:xfrm>
          <a:off x="4649" y="1809535"/>
          <a:ext cx="1441252" cy="17995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1" i="0" kern="1200" dirty="0">
              <a:effectLst/>
            </a:rPr>
            <a:t>Review and Approval Process</a:t>
          </a:r>
          <a:r>
            <a:rPr lang="en-US" sz="1300" b="0" i="0" kern="1200" dirty="0">
              <a:effectLst/>
            </a:rPr>
            <a:t>: Alex to review the proposed strategy and provide approval to proceed.</a:t>
          </a:r>
          <a:endParaRPr lang="en-US" sz="1300" kern="1200" dirty="0"/>
        </a:p>
      </dsp:txBody>
      <dsp:txXfrm>
        <a:off x="46862" y="1851748"/>
        <a:ext cx="1356826" cy="1715169"/>
      </dsp:txXfrm>
    </dsp:sp>
    <dsp:sp modelId="{54DB7560-CDB3-E648-BDB4-B68CAA986475}">
      <dsp:nvSpPr>
        <dsp:cNvPr id="0" name=""/>
        <dsp:cNvSpPr/>
      </dsp:nvSpPr>
      <dsp:spPr>
        <a:xfrm>
          <a:off x="1590027" y="2530618"/>
          <a:ext cx="305545" cy="3574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590027" y="2602104"/>
        <a:ext cx="213882" cy="214458"/>
      </dsp:txXfrm>
    </dsp:sp>
    <dsp:sp modelId="{565A3F8C-3D64-4941-AE1C-D29BFE7F5E7D}">
      <dsp:nvSpPr>
        <dsp:cNvPr id="0" name=""/>
        <dsp:cNvSpPr/>
      </dsp:nvSpPr>
      <dsp:spPr>
        <a:xfrm>
          <a:off x="2022403" y="1809535"/>
          <a:ext cx="1441252" cy="17995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a:effectLst/>
            </a:rPr>
            <a:t>Portfolio Monitoring and Adjustments</a:t>
          </a:r>
          <a:r>
            <a:rPr lang="en-US" sz="1300" b="0" i="0" kern="1200">
              <a:effectLst/>
            </a:rPr>
            <a:t>: Continuous oversight with adjustments as needed to stay aligned with goals.</a:t>
          </a:r>
          <a:endParaRPr lang="en-US" sz="1300" b="0" i="0" kern="1200" dirty="0">
            <a:effectLst/>
          </a:endParaRPr>
        </a:p>
      </dsp:txBody>
      <dsp:txXfrm>
        <a:off x="2064616" y="1851748"/>
        <a:ext cx="1356826" cy="1715169"/>
      </dsp:txXfrm>
    </dsp:sp>
    <dsp:sp modelId="{95CBD9EE-EB79-CF4C-9C00-DCB13A2DE576}">
      <dsp:nvSpPr>
        <dsp:cNvPr id="0" name=""/>
        <dsp:cNvSpPr/>
      </dsp:nvSpPr>
      <dsp:spPr>
        <a:xfrm>
          <a:off x="3607781" y="2530618"/>
          <a:ext cx="305545" cy="3574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607781" y="2602104"/>
        <a:ext cx="213882" cy="214458"/>
      </dsp:txXfrm>
    </dsp:sp>
    <dsp:sp modelId="{90E7ADF4-A908-9A41-B201-14A9DCA1159D}">
      <dsp:nvSpPr>
        <dsp:cNvPr id="0" name=""/>
        <dsp:cNvSpPr/>
      </dsp:nvSpPr>
      <dsp:spPr>
        <a:xfrm>
          <a:off x="4040157" y="1809535"/>
          <a:ext cx="1441252" cy="17995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a:effectLst/>
            </a:rPr>
            <a:t>Open Communication</a:t>
          </a:r>
          <a:r>
            <a:rPr lang="en-US" sz="1300" b="0" i="0" kern="1200">
              <a:effectLst/>
            </a:rPr>
            <a:t>: Commitment to transparency, regular updates, and addressing any questions or concerns.</a:t>
          </a:r>
          <a:endParaRPr lang="en-US" sz="1300" b="0" i="0" kern="1200" dirty="0">
            <a:effectLst/>
          </a:endParaRPr>
        </a:p>
      </dsp:txBody>
      <dsp:txXfrm>
        <a:off x="4082370" y="1851748"/>
        <a:ext cx="1356826" cy="1715169"/>
      </dsp:txXfrm>
    </dsp:sp>
    <dsp:sp modelId="{21011A90-C151-9941-AE9E-82CC2634A460}">
      <dsp:nvSpPr>
        <dsp:cNvPr id="0" name=""/>
        <dsp:cNvSpPr/>
      </dsp:nvSpPr>
      <dsp:spPr>
        <a:xfrm>
          <a:off x="5625535" y="2530618"/>
          <a:ext cx="305545" cy="3574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625535" y="2602104"/>
        <a:ext cx="213882" cy="214458"/>
      </dsp:txXfrm>
    </dsp:sp>
    <dsp:sp modelId="{97B11036-FF97-6847-896C-0A4481CB2048}">
      <dsp:nvSpPr>
        <dsp:cNvPr id="0" name=""/>
        <dsp:cNvSpPr/>
      </dsp:nvSpPr>
      <dsp:spPr>
        <a:xfrm>
          <a:off x="6057911" y="1809535"/>
          <a:ext cx="1441252" cy="17995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a:effectLst/>
            </a:rPr>
            <a:t>Educational Support</a:t>
          </a:r>
          <a:r>
            <a:rPr lang="en-US" sz="1300" b="0" i="0" kern="1200">
              <a:effectLst/>
            </a:rPr>
            <a:t>: Ongoing resources and discussions to enhance financial understanding.</a:t>
          </a:r>
          <a:endParaRPr lang="en-US" sz="1300" b="0" i="0" kern="1200" dirty="0">
            <a:effectLst/>
          </a:endParaRPr>
        </a:p>
      </dsp:txBody>
      <dsp:txXfrm>
        <a:off x="6100124" y="1851748"/>
        <a:ext cx="1356826" cy="1715169"/>
      </dsp:txXfrm>
    </dsp:sp>
    <dsp:sp modelId="{74BFC675-28DA-9448-92E8-958164747EC4}">
      <dsp:nvSpPr>
        <dsp:cNvPr id="0" name=""/>
        <dsp:cNvSpPr/>
      </dsp:nvSpPr>
      <dsp:spPr>
        <a:xfrm>
          <a:off x="7643289" y="2530618"/>
          <a:ext cx="305545" cy="3574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643289" y="2602104"/>
        <a:ext cx="213882" cy="214458"/>
      </dsp:txXfrm>
    </dsp:sp>
    <dsp:sp modelId="{BEE003D8-769D-7640-975C-DB6CA44DD2B8}">
      <dsp:nvSpPr>
        <dsp:cNvPr id="0" name=""/>
        <dsp:cNvSpPr/>
      </dsp:nvSpPr>
      <dsp:spPr>
        <a:xfrm>
          <a:off x="8075665" y="1809535"/>
          <a:ext cx="1441252" cy="17995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effectLst/>
            </a:rPr>
            <a:t>Annual Review Meetings</a:t>
          </a:r>
          <a:r>
            <a:rPr lang="en-US" sz="1300" b="0" i="0" kern="1200" dirty="0">
              <a:effectLst/>
            </a:rPr>
            <a:t>: Scheduled deep dives to evaluate performance and adapt to any changes in financial objectives.</a:t>
          </a:r>
        </a:p>
      </dsp:txBody>
      <dsp:txXfrm>
        <a:off x="8117878" y="1851748"/>
        <a:ext cx="1356826" cy="171516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416F64-3C10-864D-8CEA-918349E0D508}" type="datetimeFigureOut">
              <a:rPr lang="en-US" smtClean="0"/>
              <a:t>5/3/2025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C53CF-34E1-044F-BE45-249022D0FB7F}" type="slidenum">
              <a:rPr lang="en-US" smtClean="0"/>
              <a:t>‹#›</a:t>
            </a:fld>
            <a:endParaRPr lang="en-US"/>
          </a:p>
        </p:txBody>
      </p:sp>
    </p:spTree>
    <p:extLst>
      <p:ext uri="{BB962C8B-B14F-4D97-AF65-F5344CB8AC3E}">
        <p14:creationId xmlns:p14="http://schemas.microsoft.com/office/powerpoint/2010/main" val="2986374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EC"/>
                </a:solidFill>
                <a:effectLst/>
                <a:latin typeface="Söhne"/>
              </a:rPr>
              <a:t>"Good morning/afternoon, Alex. Thank you for entrusting us with the opportunity to help manage and grow your wealth. Today, I’m excited to present a tailored investment strategy that reflects not just the financial goals we’ve discussed but also your personal values and aspirations.”</a:t>
            </a:r>
          </a:p>
          <a:p>
            <a:endParaRPr lang="en-US" b="0" i="0" dirty="0">
              <a:solidFill>
                <a:srgbClr val="ECECEC"/>
              </a:solidFill>
              <a:effectLst/>
              <a:latin typeface="Söhne"/>
            </a:endParaRPr>
          </a:p>
          <a:p>
            <a:r>
              <a:rPr lang="en-US" b="0" i="0" dirty="0">
                <a:solidFill>
                  <a:srgbClr val="ECECEC"/>
                </a:solidFill>
                <a:effectLst/>
                <a:latin typeface="Söhne"/>
              </a:rPr>
              <a:t>"As we dive into the specifics of your portfolio, you’ll see how each element is designed with these priorities in mind. Our goal is to create a strategy that not only meets but exceeds your expectations, providing peace of mind that your investments are working as hard as you do towards securing your future."</a:t>
            </a:r>
          </a:p>
          <a:p>
            <a:endParaRPr lang="en-US" b="0" i="0" dirty="0">
              <a:solidFill>
                <a:srgbClr val="ECECEC"/>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A53C53CF-34E1-044F-BE45-249022D0FB7F}" type="slidenum">
              <a:rPr lang="en-US" smtClean="0"/>
              <a:t>3</a:t>
            </a:fld>
            <a:endParaRPr lang="en-US"/>
          </a:p>
        </p:txBody>
      </p:sp>
    </p:spTree>
    <p:extLst>
      <p:ext uri="{BB962C8B-B14F-4D97-AF65-F5344CB8AC3E}">
        <p14:creationId xmlns:p14="http://schemas.microsoft.com/office/powerpoint/2010/main" val="3517404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CECEC"/>
                </a:solidFill>
                <a:effectLst/>
                <a:latin typeface="Söhne"/>
              </a:rPr>
              <a:t>Introduction</a:t>
            </a:r>
            <a:r>
              <a:rPr lang="en-US" b="0" i="0" dirty="0">
                <a:solidFill>
                  <a:srgbClr val="ECECEC"/>
                </a:solidFill>
                <a:effectLst/>
                <a:latin typeface="Söhne"/>
              </a:rPr>
              <a:t>: "Today, I’ll walk you through our strategic asset allocation designed to balance your need for long-term growth with a moderate risk tolerance and focus on tax efficiency."</a:t>
            </a:r>
          </a:p>
          <a:p>
            <a:pPr algn="l">
              <a:buFont typeface="Arial" panose="020B0604020202020204" pitchFamily="34" charset="0"/>
              <a:buChar char="•"/>
            </a:pPr>
            <a:r>
              <a:rPr lang="en-US" b="1" i="0" dirty="0">
                <a:solidFill>
                  <a:srgbClr val="ECECEC"/>
                </a:solidFill>
                <a:effectLst/>
                <a:latin typeface="Söhne"/>
              </a:rPr>
              <a:t>Equities (45%)</a:t>
            </a:r>
            <a:r>
              <a:rPr lang="en-US" b="0" i="0" dirty="0">
                <a:solidFill>
                  <a:srgbClr val="ECECEC"/>
                </a:solidFill>
                <a:effectLst/>
                <a:latin typeface="Söhne"/>
              </a:rPr>
              <a:t>: "Starting with equities, we’ve allocated 45% of the portfolio. This segment is aimed at driving growth through diversified investments in both domestic and international markets, carefully selected to align with your growth ambitions while adhering to a moderate risk tolerance."</a:t>
            </a:r>
          </a:p>
          <a:p>
            <a:pPr algn="l">
              <a:buFont typeface="Arial" panose="020B0604020202020204" pitchFamily="34" charset="0"/>
              <a:buChar char="•"/>
            </a:pPr>
            <a:r>
              <a:rPr lang="en-US" b="1" i="0" dirty="0">
                <a:solidFill>
                  <a:srgbClr val="ECECEC"/>
                </a:solidFill>
                <a:effectLst/>
                <a:latin typeface="Söhne"/>
              </a:rPr>
              <a:t>Fixed Income (40%)</a:t>
            </a:r>
            <a:r>
              <a:rPr lang="en-US" b="0" i="0" dirty="0">
                <a:solidFill>
                  <a:srgbClr val="ECECEC"/>
                </a:solidFill>
                <a:effectLst/>
                <a:latin typeface="Söhne"/>
              </a:rPr>
              <a:t>: "To provide stability and generate income, 40% of the portfolio is allocated to fixed income. This includes a mix of corporate and municipal bonds, with an emphasis on high-quality issuances for risk management and tax efficiency."</a:t>
            </a:r>
          </a:p>
          <a:p>
            <a:pPr algn="l">
              <a:buFont typeface="Arial" panose="020B0604020202020204" pitchFamily="34" charset="0"/>
              <a:buChar char="•"/>
            </a:pPr>
            <a:r>
              <a:rPr lang="en-US" b="1" i="0" dirty="0">
                <a:solidFill>
                  <a:srgbClr val="ECECEC"/>
                </a:solidFill>
                <a:effectLst/>
                <a:latin typeface="Söhne"/>
              </a:rPr>
              <a:t>Real Estate (5%)</a:t>
            </a:r>
            <a:r>
              <a:rPr lang="en-US" b="0" i="0" dirty="0">
                <a:solidFill>
                  <a:srgbClr val="ECECEC"/>
                </a:solidFill>
                <a:effectLst/>
                <a:latin typeface="Söhne"/>
              </a:rPr>
              <a:t>: "Real estate investments, through REITs, make up 5% of the portfolio, chosen for their potential to offer steady dividends and capital appreciation, contributing to both income and diversification."</a:t>
            </a:r>
          </a:p>
          <a:p>
            <a:pPr algn="l">
              <a:buFont typeface="Arial" panose="020B0604020202020204" pitchFamily="34" charset="0"/>
              <a:buChar char="•"/>
            </a:pPr>
            <a:r>
              <a:rPr lang="en-US" b="1" i="0" dirty="0">
                <a:solidFill>
                  <a:srgbClr val="ECECEC"/>
                </a:solidFill>
                <a:effectLst/>
                <a:latin typeface="Söhne"/>
              </a:rPr>
              <a:t>Commodities (5%)</a:t>
            </a:r>
            <a:r>
              <a:rPr lang="en-US" b="0" i="0" dirty="0">
                <a:solidFill>
                  <a:srgbClr val="ECECEC"/>
                </a:solidFill>
                <a:effectLst/>
                <a:latin typeface="Söhne"/>
              </a:rPr>
              <a:t>: "Another 5% is allocated to commodities, including gold, to protect against inflation and provide an additional layer of diversification, crucial in navigating market fluctuations."</a:t>
            </a:r>
          </a:p>
          <a:p>
            <a:pPr algn="l">
              <a:buFont typeface="Arial" panose="020B0604020202020204" pitchFamily="34" charset="0"/>
              <a:buChar char="•"/>
            </a:pPr>
            <a:r>
              <a:rPr lang="en-US" b="1" i="0" dirty="0">
                <a:solidFill>
                  <a:srgbClr val="ECECEC"/>
                </a:solidFill>
                <a:effectLst/>
                <a:latin typeface="Söhne"/>
              </a:rPr>
              <a:t>Cash and Equivalents (5%)</a:t>
            </a:r>
            <a:r>
              <a:rPr lang="en-US" b="0" i="0" dirty="0">
                <a:solidFill>
                  <a:srgbClr val="ECECEC"/>
                </a:solidFill>
                <a:effectLst/>
                <a:latin typeface="Söhne"/>
              </a:rPr>
              <a:t>: "Lastly, keeping 5% in cash and equivalents ensures you have the liquidity to address any short-term needs or take advantage of investment opportunities as they arise."</a:t>
            </a:r>
          </a:p>
          <a:p>
            <a:pPr algn="l">
              <a:buFont typeface="Arial" panose="020B0604020202020204" pitchFamily="34" charset="0"/>
              <a:buChar char="•"/>
            </a:pPr>
            <a:r>
              <a:rPr lang="en-US" b="1" i="0" dirty="0">
                <a:solidFill>
                  <a:srgbClr val="ECECEC"/>
                </a:solidFill>
                <a:effectLst/>
                <a:latin typeface="Söhne"/>
              </a:rPr>
              <a:t>Conclusion</a:t>
            </a:r>
            <a:r>
              <a:rPr lang="en-US" b="0" i="0" dirty="0">
                <a:solidFill>
                  <a:srgbClr val="ECECEC"/>
                </a:solidFill>
                <a:effectLst/>
                <a:latin typeface="Söhne"/>
              </a:rPr>
              <a:t>: "This asset allocation is structured to navigate the balance between risk and reward, aiming for steady growth while safeguarding against significant downturns, in line with your specified risk tolerance and financial goals."</a:t>
            </a:r>
          </a:p>
        </p:txBody>
      </p:sp>
      <p:sp>
        <p:nvSpPr>
          <p:cNvPr id="4" name="Slide Number Placeholder 3"/>
          <p:cNvSpPr>
            <a:spLocks noGrp="1"/>
          </p:cNvSpPr>
          <p:nvPr>
            <p:ph type="sldNum" sz="quarter" idx="5"/>
          </p:nvPr>
        </p:nvSpPr>
        <p:spPr/>
        <p:txBody>
          <a:bodyPr/>
          <a:lstStyle/>
          <a:p>
            <a:fld id="{A53C53CF-34E1-044F-BE45-249022D0FB7F}" type="slidenum">
              <a:rPr lang="en-US" smtClean="0"/>
              <a:t>4</a:t>
            </a:fld>
            <a:endParaRPr lang="en-US"/>
          </a:p>
        </p:txBody>
      </p:sp>
    </p:spTree>
    <p:extLst>
      <p:ext uri="{BB962C8B-B14F-4D97-AF65-F5344CB8AC3E}">
        <p14:creationId xmlns:p14="http://schemas.microsoft.com/office/powerpoint/2010/main" val="2211180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CECEC"/>
                </a:solidFill>
                <a:effectLst/>
                <a:latin typeface="Söhne"/>
              </a:rPr>
              <a:t>Introduction</a:t>
            </a:r>
            <a:r>
              <a:rPr lang="en-US" b="0" i="0" dirty="0">
                <a:solidFill>
                  <a:srgbClr val="ECECEC"/>
                </a:solidFill>
                <a:effectLst/>
                <a:latin typeface="Söhne"/>
              </a:rPr>
              <a:t>: "Building on our asset allocation strategy, let's dive into the specific investments selected for your portfolio, chosen to support your financial goals while respecting your risk preferences."</a:t>
            </a:r>
          </a:p>
          <a:p>
            <a:pPr algn="l">
              <a:buFont typeface="Arial" panose="020B0604020202020204" pitchFamily="34" charset="0"/>
              <a:buChar char="•"/>
            </a:pPr>
            <a:r>
              <a:rPr lang="en-US" b="1" i="0" dirty="0">
                <a:solidFill>
                  <a:srgbClr val="ECECEC"/>
                </a:solidFill>
                <a:effectLst/>
                <a:latin typeface="Söhne"/>
              </a:rPr>
              <a:t>Equities (45%)</a:t>
            </a:r>
            <a:r>
              <a:rPr lang="en-US" b="0" i="0" dirty="0">
                <a:solidFill>
                  <a:srgbClr val="ECECEC"/>
                </a:solidFill>
                <a:effectLst/>
                <a:latin typeface="Söhne"/>
              </a:rPr>
              <a:t>: "We've diversified your equity holdings across sectors and regions to harness growth opportunities. This includes broad market exposure through an S&amp;P 500 Index Fund, global diversification with an International Equity Fund, and targeted investments in the Tech Sector and Green Energy, sectors we believe are positioned for significant growth."</a:t>
            </a:r>
          </a:p>
          <a:p>
            <a:pPr algn="l">
              <a:buFont typeface="Arial" panose="020B0604020202020204" pitchFamily="34" charset="0"/>
              <a:buChar char="•"/>
            </a:pPr>
            <a:r>
              <a:rPr lang="en-US" b="1" i="0" dirty="0">
                <a:solidFill>
                  <a:srgbClr val="ECECEC"/>
                </a:solidFill>
                <a:effectLst/>
                <a:latin typeface="Söhne"/>
              </a:rPr>
              <a:t>Fixed Income (40%)</a:t>
            </a:r>
            <a:r>
              <a:rPr lang="en-US" b="0" i="0" dirty="0">
                <a:solidFill>
                  <a:srgbClr val="ECECEC"/>
                </a:solidFill>
                <a:effectLst/>
                <a:latin typeface="Söhne"/>
              </a:rPr>
              <a:t>: "For fixed income, we've prioritized a mix of corporate and municipal bonds to generate steady income with an eye on tax efficiency. The High-Yield Corporate Bond Fund offers higher income potential, while the Municipal Bond Fund provides tax-exempt income, aligning with your interest in minimizing tax liabilities. The inclusion of a Total Market Bond Fund further diversifies this segment."</a:t>
            </a:r>
          </a:p>
          <a:p>
            <a:pPr algn="l">
              <a:buFont typeface="Arial" panose="020B0604020202020204" pitchFamily="34" charset="0"/>
              <a:buChar char="•"/>
            </a:pPr>
            <a:r>
              <a:rPr lang="en-US" b="1" i="0" dirty="0">
                <a:solidFill>
                  <a:srgbClr val="ECECEC"/>
                </a:solidFill>
                <a:effectLst/>
                <a:latin typeface="Söhne"/>
              </a:rPr>
              <a:t>Real Estate (5%)</a:t>
            </a:r>
            <a:r>
              <a:rPr lang="en-US" b="0" i="0" dirty="0">
                <a:solidFill>
                  <a:srgbClr val="ECECEC"/>
                </a:solidFill>
                <a:effectLst/>
                <a:latin typeface="Söhne"/>
              </a:rPr>
              <a:t>: "The REIT ETF is chosen for its potential to provide both income through dividends and growth through appreciation, serving as a solid component of your diversified investment strategy."</a:t>
            </a:r>
          </a:p>
          <a:p>
            <a:pPr algn="l">
              <a:buFont typeface="Arial" panose="020B0604020202020204" pitchFamily="34" charset="0"/>
              <a:buChar char="•"/>
            </a:pPr>
            <a:r>
              <a:rPr lang="en-US" b="1" i="0" dirty="0">
                <a:solidFill>
                  <a:srgbClr val="ECECEC"/>
                </a:solidFill>
                <a:effectLst/>
                <a:latin typeface="Söhne"/>
              </a:rPr>
              <a:t>Commodities (5%)</a:t>
            </a:r>
            <a:r>
              <a:rPr lang="en-US" b="0" i="0" dirty="0">
                <a:solidFill>
                  <a:srgbClr val="ECECEC"/>
                </a:solidFill>
                <a:effectLst/>
                <a:latin typeface="Söhne"/>
              </a:rPr>
              <a:t>: "With commodities, specifically the Gold ETF, we're adding a layer of protection against inflation and market volatility, enhancing the portfolio's resilience."</a:t>
            </a:r>
          </a:p>
          <a:p>
            <a:pPr algn="l">
              <a:buFont typeface="Arial" panose="020B0604020202020204" pitchFamily="34" charset="0"/>
              <a:buChar char="•"/>
            </a:pPr>
            <a:r>
              <a:rPr lang="en-US" b="1" i="0" dirty="0">
                <a:solidFill>
                  <a:srgbClr val="ECECEC"/>
                </a:solidFill>
                <a:effectLst/>
                <a:latin typeface="Söhne"/>
              </a:rPr>
              <a:t>Cash and Equivalents (5%)</a:t>
            </a:r>
            <a:r>
              <a:rPr lang="en-US" b="0" i="0" dirty="0">
                <a:solidFill>
                  <a:srgbClr val="ECECEC"/>
                </a:solidFill>
                <a:effectLst/>
                <a:latin typeface="Söhne"/>
              </a:rPr>
              <a:t>: "Maintaining a portion of the portfolio in a Money Market Fund ensures liquidity for any short-term needs or opportunities, contributing to the overall balance and flexibility of the investment strategy."</a:t>
            </a:r>
          </a:p>
          <a:p>
            <a:pPr algn="l">
              <a:buFont typeface="Arial" panose="020B0604020202020204" pitchFamily="34" charset="0"/>
              <a:buChar char="•"/>
            </a:pPr>
            <a:r>
              <a:rPr lang="en-US" b="1" i="0" dirty="0">
                <a:solidFill>
                  <a:srgbClr val="ECECEC"/>
                </a:solidFill>
                <a:effectLst/>
                <a:latin typeface="Söhne"/>
              </a:rPr>
              <a:t>Conclusion</a:t>
            </a:r>
            <a:r>
              <a:rPr lang="en-US" b="0" i="0" dirty="0">
                <a:solidFill>
                  <a:srgbClr val="ECECEC"/>
                </a:solidFill>
                <a:effectLst/>
                <a:latin typeface="Söhne"/>
              </a:rPr>
              <a:t>: "Each investment within your portfolio is carefully selected to contribute to the overarching goals of growth, income, and stability, with careful consideration of your risk tolerance and tax efficiency needs. This tailored approach is designed to navigate the market's ups and downs while progressing towards your long-term financial objectives."</a:t>
            </a:r>
          </a:p>
          <a:p>
            <a:endParaRPr lang="en-US" dirty="0"/>
          </a:p>
        </p:txBody>
      </p:sp>
      <p:sp>
        <p:nvSpPr>
          <p:cNvPr id="4" name="Slide Number Placeholder 3"/>
          <p:cNvSpPr>
            <a:spLocks noGrp="1"/>
          </p:cNvSpPr>
          <p:nvPr>
            <p:ph type="sldNum" sz="quarter" idx="5"/>
          </p:nvPr>
        </p:nvSpPr>
        <p:spPr/>
        <p:txBody>
          <a:bodyPr/>
          <a:lstStyle/>
          <a:p>
            <a:fld id="{A53C53CF-34E1-044F-BE45-249022D0FB7F}" type="slidenum">
              <a:rPr lang="en-US" smtClean="0"/>
              <a:t>5</a:t>
            </a:fld>
            <a:endParaRPr lang="en-US"/>
          </a:p>
        </p:txBody>
      </p:sp>
    </p:spTree>
    <p:extLst>
      <p:ext uri="{BB962C8B-B14F-4D97-AF65-F5344CB8AC3E}">
        <p14:creationId xmlns:p14="http://schemas.microsoft.com/office/powerpoint/2010/main" val="3911234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CECEC"/>
                </a:solidFill>
                <a:effectLst/>
                <a:latin typeface="Söhne"/>
              </a:rPr>
              <a:t>Introduction</a:t>
            </a:r>
            <a:r>
              <a:rPr lang="en-US" b="0" i="0" dirty="0">
                <a:solidFill>
                  <a:srgbClr val="ECECEC"/>
                </a:solidFill>
                <a:effectLst/>
                <a:latin typeface="Söhne"/>
              </a:rPr>
              <a:t>: "In crafting your portfolio, a cornerstone of our strategy revolves around risk management, essential for aligning with your moderate risk tolerance and ensuring capital preservation."</a:t>
            </a:r>
          </a:p>
          <a:p>
            <a:pPr algn="l">
              <a:buFont typeface="Arial" panose="020B0604020202020204" pitchFamily="34" charset="0"/>
              <a:buChar char="•"/>
            </a:pPr>
            <a:r>
              <a:rPr lang="en-US" b="1" i="0" dirty="0">
                <a:solidFill>
                  <a:srgbClr val="ECECEC"/>
                </a:solidFill>
                <a:effectLst/>
                <a:latin typeface="Söhne"/>
              </a:rPr>
              <a:t>Diversification</a:t>
            </a:r>
            <a:r>
              <a:rPr lang="en-US" b="0" i="0" dirty="0">
                <a:solidFill>
                  <a:srgbClr val="ECECEC"/>
                </a:solidFill>
                <a:effectLst/>
                <a:latin typeface="Söhne"/>
              </a:rPr>
              <a:t>: "A key tool we employ is diversification across different asset classes. By not putting all our eggs in one basket, we significantly reduce the impact of any single investment's poor performance on the overall portfolio. This approach is particularly effective in smoothing out returns over time, in line with your risk tolerance."</a:t>
            </a:r>
          </a:p>
          <a:p>
            <a:pPr algn="l">
              <a:buFont typeface="Arial" panose="020B0604020202020204" pitchFamily="34" charset="0"/>
              <a:buChar char="•"/>
            </a:pPr>
            <a:r>
              <a:rPr lang="en-US" b="1" i="0" dirty="0">
                <a:solidFill>
                  <a:srgbClr val="ECECEC"/>
                </a:solidFill>
                <a:effectLst/>
                <a:latin typeface="Söhne"/>
              </a:rPr>
              <a:t>Quality Fixed Income</a:t>
            </a:r>
            <a:r>
              <a:rPr lang="en-US" b="0" i="0" dirty="0">
                <a:solidFill>
                  <a:srgbClr val="ECECEC"/>
                </a:solidFill>
                <a:effectLst/>
                <a:latin typeface="Söhne"/>
              </a:rPr>
              <a:t>: "We've carefully selected high-quality bonds, focusing on issuers with strong credit ratings to minimize the risk of default. This not only provides a steady income stream but also adds a layer of security to your investment."</a:t>
            </a:r>
          </a:p>
          <a:p>
            <a:pPr algn="l">
              <a:buFont typeface="Arial" panose="020B0604020202020204" pitchFamily="34" charset="0"/>
              <a:buChar char="•"/>
            </a:pPr>
            <a:r>
              <a:rPr lang="en-US" b="1" i="0" dirty="0">
                <a:solidFill>
                  <a:srgbClr val="ECECEC"/>
                </a:solidFill>
                <a:effectLst/>
                <a:latin typeface="Söhne"/>
              </a:rPr>
              <a:t>Commodities as a Hedge</a:t>
            </a:r>
            <a:r>
              <a:rPr lang="en-US" b="0" i="0" dirty="0">
                <a:solidFill>
                  <a:srgbClr val="ECECEC"/>
                </a:solidFill>
                <a:effectLst/>
                <a:latin typeface="Söhne"/>
              </a:rPr>
              <a:t>: "Including commodities like gold serves multiple purposes: it's a traditional hedge against inflation, helping to preserve your purchasing power, and it often moves inversely to stock markets, providing a buffer in times of volatility."</a:t>
            </a:r>
          </a:p>
          <a:p>
            <a:pPr algn="l">
              <a:buFont typeface="Arial" panose="020B0604020202020204" pitchFamily="34" charset="0"/>
              <a:buChar char="•"/>
            </a:pPr>
            <a:r>
              <a:rPr lang="en-US" b="1" i="0" dirty="0">
                <a:solidFill>
                  <a:srgbClr val="ECECEC"/>
                </a:solidFill>
                <a:effectLst/>
                <a:latin typeface="Söhne"/>
              </a:rPr>
              <a:t>Liquidity Management</a:t>
            </a:r>
            <a:r>
              <a:rPr lang="en-US" b="0" i="0" dirty="0">
                <a:solidFill>
                  <a:srgbClr val="ECECEC"/>
                </a:solidFill>
                <a:effectLst/>
                <a:latin typeface="Söhne"/>
              </a:rPr>
              <a:t>: "Maintaining a portion of your portfolio in cash and equivalents ensures that you have immediate access to funds when needed, whether for emergency expenses or to capitalize on new investment opportunities. This liquidity is a crucial aspect of managing risk, giving us the flexibility to respond to market changes without the need to sell off assets at an inopportune time."</a:t>
            </a:r>
          </a:p>
          <a:p>
            <a:pPr algn="l">
              <a:buFont typeface="Arial" panose="020B0604020202020204" pitchFamily="34" charset="0"/>
              <a:buChar char="•"/>
            </a:pPr>
            <a:r>
              <a:rPr lang="en-US" b="1" i="0" dirty="0">
                <a:solidFill>
                  <a:srgbClr val="ECECEC"/>
                </a:solidFill>
                <a:effectLst/>
                <a:latin typeface="Söhne"/>
              </a:rPr>
              <a:t>Conclusion</a:t>
            </a:r>
            <a:r>
              <a:rPr lang="en-US" b="0" i="0" dirty="0">
                <a:solidFill>
                  <a:srgbClr val="ECECEC"/>
                </a:solidFill>
                <a:effectLst/>
                <a:latin typeface="Söhne"/>
              </a:rPr>
              <a:t>: "Overall, these risk management strategies are integrated into your portfolio with the aim to protect your investments against significant losses, ensuring that we are well-positioned to achieve your long-term financial goals while respecting your risk tolerance."</a:t>
            </a:r>
          </a:p>
          <a:p>
            <a:endParaRPr lang="en-US" dirty="0"/>
          </a:p>
        </p:txBody>
      </p:sp>
      <p:sp>
        <p:nvSpPr>
          <p:cNvPr id="4" name="Slide Number Placeholder 3"/>
          <p:cNvSpPr>
            <a:spLocks noGrp="1"/>
          </p:cNvSpPr>
          <p:nvPr>
            <p:ph type="sldNum" sz="quarter" idx="5"/>
          </p:nvPr>
        </p:nvSpPr>
        <p:spPr/>
        <p:txBody>
          <a:bodyPr/>
          <a:lstStyle/>
          <a:p>
            <a:fld id="{A53C53CF-34E1-044F-BE45-249022D0FB7F}" type="slidenum">
              <a:rPr lang="en-US" smtClean="0"/>
              <a:t>6</a:t>
            </a:fld>
            <a:endParaRPr lang="en-US"/>
          </a:p>
        </p:txBody>
      </p:sp>
    </p:spTree>
    <p:extLst>
      <p:ext uri="{BB962C8B-B14F-4D97-AF65-F5344CB8AC3E}">
        <p14:creationId xmlns:p14="http://schemas.microsoft.com/office/powerpoint/2010/main" val="76074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CECEC"/>
                </a:solidFill>
                <a:effectLst/>
                <a:latin typeface="Söhne"/>
              </a:rPr>
              <a:t>Introduction</a:t>
            </a:r>
            <a:r>
              <a:rPr lang="en-US" b="0" i="0" dirty="0">
                <a:solidFill>
                  <a:srgbClr val="ECECEC"/>
                </a:solidFill>
                <a:effectLst/>
                <a:latin typeface="Söhne"/>
              </a:rPr>
              <a:t>: "Alex, as we outline our path forward, the first and most critical step is your review and approval of the investment strategy we've discussed today."</a:t>
            </a:r>
          </a:p>
          <a:p>
            <a:pPr algn="l">
              <a:buFont typeface="Arial" panose="020B0604020202020204" pitchFamily="34" charset="0"/>
              <a:buChar char="•"/>
            </a:pPr>
            <a:r>
              <a:rPr lang="en-US" b="1" i="0" dirty="0">
                <a:solidFill>
                  <a:srgbClr val="ECECEC"/>
                </a:solidFill>
                <a:effectLst/>
                <a:latin typeface="Söhne"/>
              </a:rPr>
              <a:t>Review and Approval Process</a:t>
            </a:r>
            <a:r>
              <a:rPr lang="en-US" b="0" i="0" dirty="0">
                <a:solidFill>
                  <a:srgbClr val="ECECEC"/>
                </a:solidFill>
                <a:effectLst/>
                <a:latin typeface="Söhne"/>
              </a:rPr>
              <a:t>: "We invite you to take your time to carefully consider the proposed strategy. Please feel free to ask any additional questions or express concerns. Your comfort and confidence in this strategy are paramount, and we require your explicit approval before proceeding."</a:t>
            </a:r>
          </a:p>
          <a:p>
            <a:pPr algn="l">
              <a:buFont typeface="Arial" panose="020B0604020202020204" pitchFamily="34" charset="0"/>
              <a:buChar char="•"/>
            </a:pPr>
            <a:r>
              <a:rPr lang="en-US" b="1" i="0" dirty="0">
                <a:solidFill>
                  <a:srgbClr val="ECECEC"/>
                </a:solidFill>
                <a:effectLst/>
                <a:latin typeface="Söhne"/>
              </a:rPr>
              <a:t>Portfolio Monitoring</a:t>
            </a:r>
            <a:r>
              <a:rPr lang="en-US" b="0" i="0" dirty="0">
                <a:solidFill>
                  <a:srgbClr val="ECECEC"/>
                </a:solidFill>
                <a:effectLst/>
                <a:latin typeface="Söhne"/>
              </a:rPr>
              <a:t>: "Upon your approval, we'll implement the strategy and begin the continuous process of monitoring and adjusting the portfolio, ensuring it remains in line with your evolving financial landscape and the market conditions."</a:t>
            </a:r>
          </a:p>
          <a:p>
            <a:pPr algn="l">
              <a:buFont typeface="Arial" panose="020B0604020202020204" pitchFamily="34" charset="0"/>
              <a:buChar char="•"/>
            </a:pPr>
            <a:r>
              <a:rPr lang="en-US" b="1" i="0" dirty="0">
                <a:solidFill>
                  <a:srgbClr val="ECECEC"/>
                </a:solidFill>
                <a:effectLst/>
                <a:latin typeface="Söhne"/>
              </a:rPr>
              <a:t>Communication and Education</a:t>
            </a:r>
            <a:r>
              <a:rPr lang="en-US" b="0" i="0" dirty="0">
                <a:solidFill>
                  <a:srgbClr val="ECECEC"/>
                </a:solidFill>
                <a:effectLst/>
                <a:latin typeface="Söhne"/>
              </a:rPr>
              <a:t>: "Expect regular communication from us, including updates on your portfolio and educational insights to help you stay informed. We believe in empowering you with knowledge to make this partnership as fruitful as possible."</a:t>
            </a:r>
          </a:p>
          <a:p>
            <a:pPr algn="l">
              <a:buFont typeface="Arial" panose="020B0604020202020204" pitchFamily="34" charset="0"/>
              <a:buChar char="•"/>
            </a:pPr>
            <a:r>
              <a:rPr lang="en-US" b="1" i="0" dirty="0">
                <a:solidFill>
                  <a:srgbClr val="ECECEC"/>
                </a:solidFill>
                <a:effectLst/>
                <a:latin typeface="Söhne"/>
              </a:rPr>
              <a:t>Annual Review Meetings</a:t>
            </a:r>
            <a:r>
              <a:rPr lang="en-US" b="0" i="0" dirty="0">
                <a:solidFill>
                  <a:srgbClr val="ECECEC"/>
                </a:solidFill>
                <a:effectLst/>
                <a:latin typeface="Söhne"/>
              </a:rPr>
              <a:t>: "We'll also schedule annual reviews to reassess your portfolio's performance against your goals, making any necessary strategic adjustments. This is also a perfect time to discuss any changes in your financial situation or goals."</a:t>
            </a:r>
          </a:p>
          <a:p>
            <a:pPr algn="l">
              <a:buFont typeface="Arial" panose="020B0604020202020204" pitchFamily="34" charset="0"/>
              <a:buChar char="•"/>
            </a:pPr>
            <a:r>
              <a:rPr lang="en-US" b="1" i="0" dirty="0">
                <a:solidFill>
                  <a:srgbClr val="ECECEC"/>
                </a:solidFill>
                <a:effectLst/>
                <a:latin typeface="Söhne"/>
              </a:rPr>
              <a:t>Conclusion</a:t>
            </a:r>
            <a:r>
              <a:rPr lang="en-US" b="0" i="0" dirty="0">
                <a:solidFill>
                  <a:srgbClr val="ECECEC"/>
                </a:solidFill>
                <a:effectLst/>
                <a:latin typeface="Söhne"/>
              </a:rPr>
              <a:t>: "Your trust in us is something we value deeply. This process—from your initial approval through to our ongoing partnership—is designed with your best interests at heart. Together, we'll navigate the path to achieving your financial aspirations."</a:t>
            </a:r>
          </a:p>
          <a:p>
            <a:endParaRPr lang="en-US" dirty="0"/>
          </a:p>
        </p:txBody>
      </p:sp>
      <p:sp>
        <p:nvSpPr>
          <p:cNvPr id="4" name="Slide Number Placeholder 3"/>
          <p:cNvSpPr>
            <a:spLocks noGrp="1"/>
          </p:cNvSpPr>
          <p:nvPr>
            <p:ph type="sldNum" sz="quarter" idx="5"/>
          </p:nvPr>
        </p:nvSpPr>
        <p:spPr/>
        <p:txBody>
          <a:bodyPr/>
          <a:lstStyle/>
          <a:p>
            <a:fld id="{A53C53CF-34E1-044F-BE45-249022D0FB7F}" type="slidenum">
              <a:rPr lang="en-US" smtClean="0"/>
              <a:t>7</a:t>
            </a:fld>
            <a:endParaRPr lang="en-US"/>
          </a:p>
        </p:txBody>
      </p:sp>
    </p:spTree>
    <p:extLst>
      <p:ext uri="{BB962C8B-B14F-4D97-AF65-F5344CB8AC3E}">
        <p14:creationId xmlns:p14="http://schemas.microsoft.com/office/powerpoint/2010/main" val="2888764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332066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3574979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752812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85303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648041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3274612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979194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946081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378397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1232432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A4C0CD32-A6C8-4BA5-B3DF-D8325E32CAA4}" type="slidenum">
              <a:rPr lang="en-US" smtClean="0"/>
              <a:t>‹#›</a:t>
            </a:fld>
            <a:endParaRPr lang="en-US"/>
          </a:p>
        </p:txBody>
      </p:sp>
    </p:spTree>
    <p:extLst>
      <p:ext uri="{BB962C8B-B14F-4D97-AF65-F5344CB8AC3E}">
        <p14:creationId xmlns:p14="http://schemas.microsoft.com/office/powerpoint/2010/main" val="2031829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F07CD3FD-BE54-4400-942B-C6C15AA73DFD}" type="datetimeFigureOut">
              <a:rPr lang="en-US" smtClean="0"/>
              <a:t>5/3/2025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A4C0CD32-A6C8-4BA5-B3DF-D8325E32CAA4}" type="slidenum">
              <a:rPr lang="en-US" smtClean="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904203"/>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C4916F-E944-B98D-4F80-12B8334397BB}"/>
              </a:ext>
            </a:extLst>
          </p:cNvPr>
          <p:cNvSpPr>
            <a:spLocks noGrp="1"/>
          </p:cNvSpPr>
          <p:nvPr>
            <p:ph type="ctrTitle"/>
          </p:nvPr>
        </p:nvSpPr>
        <p:spPr>
          <a:xfrm>
            <a:off x="914401" y="914400"/>
            <a:ext cx="4035055" cy="2996649"/>
          </a:xfrm>
        </p:spPr>
        <p:txBody>
          <a:bodyPr anchor="t">
            <a:normAutofit/>
          </a:bodyPr>
          <a:lstStyle/>
          <a:p>
            <a:r>
              <a:rPr lang="en-US" dirty="0"/>
              <a:t>Investment Strategy Meeting</a:t>
            </a:r>
          </a:p>
        </p:txBody>
      </p:sp>
      <p:sp>
        <p:nvSpPr>
          <p:cNvPr id="3" name="Subtitle 2">
            <a:extLst>
              <a:ext uri="{FF2B5EF4-FFF2-40B4-BE49-F238E27FC236}">
                <a16:creationId xmlns:a16="http://schemas.microsoft.com/office/drawing/2014/main" id="{D6C7FFF8-958E-3470-B18D-EF3D6CE6CE50}"/>
              </a:ext>
            </a:extLst>
          </p:cNvPr>
          <p:cNvSpPr>
            <a:spLocks noGrp="1"/>
          </p:cNvSpPr>
          <p:nvPr>
            <p:ph type="subTitle" idx="1"/>
          </p:nvPr>
        </p:nvSpPr>
        <p:spPr>
          <a:xfrm>
            <a:off x="914401" y="5248504"/>
            <a:ext cx="4035055" cy="950275"/>
          </a:xfrm>
        </p:spPr>
        <p:txBody>
          <a:bodyPr anchor="t">
            <a:normAutofit/>
          </a:bodyPr>
          <a:lstStyle/>
          <a:p>
            <a:r>
              <a:rPr lang="en-US" dirty="0"/>
              <a:t>Prepared for Alex</a:t>
            </a:r>
          </a:p>
          <a:p>
            <a:r>
              <a:rPr lang="en-US" dirty="0"/>
              <a:t>05/03/2025</a:t>
            </a:r>
          </a:p>
        </p:txBody>
      </p:sp>
      <p:pic>
        <p:nvPicPr>
          <p:cNvPr id="1026" name="Picture 2">
            <a:extLst>
              <a:ext uri="{FF2B5EF4-FFF2-40B4-BE49-F238E27FC236}">
                <a16:creationId xmlns:a16="http://schemas.microsoft.com/office/drawing/2014/main" id="{71A65813-1AE2-5F28-30E2-2DDB969776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48570" y="1544012"/>
            <a:ext cx="5799963" cy="3769975"/>
          </a:xfrm>
          <a:prstGeom prst="rect">
            <a:avLst/>
          </a:prstGeom>
          <a:noFill/>
          <a:extLst>
            <a:ext uri="{909E8E84-426E-40DD-AFC4-6F175D3DCCD1}">
              <a14:hiddenFill xmlns:a14="http://schemas.microsoft.com/office/drawing/2010/main">
                <a:solidFill>
                  <a:srgbClr val="FFFFFF"/>
                </a:solidFill>
              </a14:hiddenFill>
            </a:ext>
          </a:extLst>
        </p:spPr>
      </p:pic>
      <p:cxnSp>
        <p:nvCxnSpPr>
          <p:cNvPr id="1040" name="Straight Connector 1039">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75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46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C92DF-59E4-05F3-5902-26A18035FD5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ADC0988-F4C6-83D0-9FD5-EE5314B7793D}"/>
              </a:ext>
            </a:extLst>
          </p:cNvPr>
          <p:cNvSpPr>
            <a:spLocks noGrp="1"/>
          </p:cNvSpPr>
          <p:nvPr>
            <p:ph idx="1"/>
          </p:nvPr>
        </p:nvSpPr>
        <p:spPr/>
        <p:txBody>
          <a:bodyPr/>
          <a:lstStyle/>
          <a:p>
            <a:r>
              <a:rPr lang="en-US" dirty="0"/>
              <a:t>Introduction</a:t>
            </a:r>
          </a:p>
          <a:p>
            <a:r>
              <a:rPr lang="en-US" dirty="0"/>
              <a:t>Asset Allocation</a:t>
            </a:r>
          </a:p>
          <a:p>
            <a:r>
              <a:rPr lang="en-US" dirty="0"/>
              <a:t>Investment Selection</a:t>
            </a:r>
          </a:p>
          <a:p>
            <a:r>
              <a:rPr lang="en-US" dirty="0"/>
              <a:t>Risk Management</a:t>
            </a:r>
          </a:p>
          <a:p>
            <a:r>
              <a:rPr lang="en-US" dirty="0"/>
              <a:t>Next Steps</a:t>
            </a:r>
          </a:p>
          <a:p>
            <a:r>
              <a:rPr lang="en-US" dirty="0"/>
              <a:t>Questions</a:t>
            </a:r>
          </a:p>
        </p:txBody>
      </p:sp>
    </p:spTree>
    <p:extLst>
      <p:ext uri="{BB962C8B-B14F-4D97-AF65-F5344CB8AC3E}">
        <p14:creationId xmlns:p14="http://schemas.microsoft.com/office/powerpoint/2010/main" val="3687595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0FDD-C890-9C41-DC28-0BC6BE1A5567}"/>
              </a:ext>
            </a:extLst>
          </p:cNvPr>
          <p:cNvSpPr>
            <a:spLocks noGrp="1"/>
          </p:cNvSpPr>
          <p:nvPr>
            <p:ph type="title"/>
          </p:nvPr>
        </p:nvSpPr>
        <p:spPr/>
        <p:txBody>
          <a:bodyPr/>
          <a:lstStyle/>
          <a:p>
            <a:r>
              <a:rPr lang="en-US" dirty="0"/>
              <a:t>Financial Goals</a:t>
            </a:r>
          </a:p>
        </p:txBody>
      </p:sp>
      <p:sp>
        <p:nvSpPr>
          <p:cNvPr id="3" name="Content Placeholder 2">
            <a:extLst>
              <a:ext uri="{FF2B5EF4-FFF2-40B4-BE49-F238E27FC236}">
                <a16:creationId xmlns:a16="http://schemas.microsoft.com/office/drawing/2014/main" id="{21474AB0-CBE5-D660-93CC-FC4C2FACDC50}"/>
              </a:ext>
            </a:extLst>
          </p:cNvPr>
          <p:cNvSpPr>
            <a:spLocks noGrp="1"/>
          </p:cNvSpPr>
          <p:nvPr>
            <p:ph idx="1"/>
          </p:nvPr>
        </p:nvSpPr>
        <p:spPr/>
        <p:txBody>
          <a:bodyPr/>
          <a:lstStyle/>
          <a:p>
            <a:r>
              <a:rPr lang="en-US" dirty="0"/>
              <a:t>Long-term Growth: Aim to significantly grow wealth over the next 2—30 years to secure comfortable retirement and establish lasting legacy.</a:t>
            </a:r>
          </a:p>
          <a:p>
            <a:r>
              <a:rPr lang="en-US" dirty="0"/>
              <a:t>Moderate Risk Tolerance: Prefers a balanced investment approach that seeks growth while being cautious of significant losses. Specifically, not comfortable with losing more than 25% of wealth in any given year. </a:t>
            </a:r>
          </a:p>
          <a:p>
            <a:r>
              <a:rPr lang="en-US" dirty="0"/>
              <a:t>Interest in Tax Efficiency: Seeks to maximize after-tax returns through investments that offer tax benefits, emphasizing the important of tax-efficient strategies in wealth management.</a:t>
            </a:r>
          </a:p>
        </p:txBody>
      </p:sp>
    </p:spTree>
    <p:extLst>
      <p:ext uri="{BB962C8B-B14F-4D97-AF65-F5344CB8AC3E}">
        <p14:creationId xmlns:p14="http://schemas.microsoft.com/office/powerpoint/2010/main" val="276823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AC44D-F55E-6DD3-BE98-62A40D258D5C}"/>
              </a:ext>
            </a:extLst>
          </p:cNvPr>
          <p:cNvSpPr>
            <a:spLocks noGrp="1"/>
          </p:cNvSpPr>
          <p:nvPr>
            <p:ph type="title"/>
          </p:nvPr>
        </p:nvSpPr>
        <p:spPr/>
        <p:txBody>
          <a:bodyPr/>
          <a:lstStyle/>
          <a:p>
            <a:r>
              <a:rPr lang="en-US" dirty="0"/>
              <a:t>Asset Allocation</a:t>
            </a:r>
          </a:p>
        </p:txBody>
      </p:sp>
      <p:sp>
        <p:nvSpPr>
          <p:cNvPr id="3" name="Content Placeholder 2">
            <a:extLst>
              <a:ext uri="{FF2B5EF4-FFF2-40B4-BE49-F238E27FC236}">
                <a16:creationId xmlns:a16="http://schemas.microsoft.com/office/drawing/2014/main" id="{58AC2D8B-8DC2-63EC-4242-258222842CDE}"/>
              </a:ext>
            </a:extLst>
          </p:cNvPr>
          <p:cNvSpPr>
            <a:spLocks noGrp="1"/>
          </p:cNvSpPr>
          <p:nvPr>
            <p:ph idx="1"/>
          </p:nvPr>
        </p:nvSpPr>
        <p:spPr/>
        <p:txBody>
          <a:bodyPr/>
          <a:lstStyle/>
          <a:p>
            <a:pPr algn="l">
              <a:buFont typeface="Arial" panose="020B0604020202020204" pitchFamily="34" charset="0"/>
              <a:buChar char="•"/>
            </a:pPr>
            <a:r>
              <a:rPr lang="en-US" b="1" i="0" dirty="0">
                <a:effectLst/>
              </a:rPr>
              <a:t>Equities (45%)</a:t>
            </a:r>
            <a:r>
              <a:rPr lang="en-US" b="0" i="0" dirty="0">
                <a:effectLst/>
              </a:rPr>
              <a:t>: Diversified across sectors and geographies for growth potential.</a:t>
            </a:r>
          </a:p>
          <a:p>
            <a:pPr algn="l">
              <a:buFont typeface="Arial" panose="020B0604020202020204" pitchFamily="34" charset="0"/>
              <a:buChar char="•"/>
            </a:pPr>
            <a:r>
              <a:rPr lang="en-US" b="1" i="0" dirty="0">
                <a:effectLst/>
              </a:rPr>
              <a:t>Fixed Income (40%)</a:t>
            </a:r>
            <a:r>
              <a:rPr lang="en-US" b="0" i="0" dirty="0">
                <a:effectLst/>
              </a:rPr>
              <a:t>: Stability and income, with a focus on high-quality bonds.</a:t>
            </a:r>
          </a:p>
          <a:p>
            <a:pPr algn="l">
              <a:buFont typeface="Arial" panose="020B0604020202020204" pitchFamily="34" charset="0"/>
              <a:buChar char="•"/>
            </a:pPr>
            <a:r>
              <a:rPr lang="en-US" b="1" i="0" dirty="0">
                <a:effectLst/>
              </a:rPr>
              <a:t>Real Estate (5%)</a:t>
            </a:r>
            <a:r>
              <a:rPr lang="en-US" b="0" i="0" dirty="0">
                <a:effectLst/>
              </a:rPr>
              <a:t>: Offers income through dividends and potential for appreciation.</a:t>
            </a:r>
          </a:p>
          <a:p>
            <a:pPr algn="l">
              <a:buFont typeface="Arial" panose="020B0604020202020204" pitchFamily="34" charset="0"/>
              <a:buChar char="•"/>
            </a:pPr>
            <a:r>
              <a:rPr lang="en-US" b="1" i="0" dirty="0">
                <a:effectLst/>
              </a:rPr>
              <a:t>Commodities (5%)</a:t>
            </a:r>
            <a:r>
              <a:rPr lang="en-US" b="0" i="0" dirty="0">
                <a:effectLst/>
              </a:rPr>
              <a:t>: Adds inflation protection and further diversification.</a:t>
            </a:r>
          </a:p>
          <a:p>
            <a:pPr algn="l">
              <a:buFont typeface="Arial" panose="020B0604020202020204" pitchFamily="34" charset="0"/>
              <a:buChar char="•"/>
            </a:pPr>
            <a:r>
              <a:rPr lang="en-US" b="1" i="0" dirty="0">
                <a:effectLst/>
              </a:rPr>
              <a:t>Cash and Equivalents (5%)</a:t>
            </a:r>
            <a:r>
              <a:rPr lang="en-US" b="0" i="0" dirty="0">
                <a:effectLst/>
              </a:rPr>
              <a:t>: Ensures liquidity for short-term needs and opportunities.</a:t>
            </a:r>
          </a:p>
          <a:p>
            <a:pPr marL="0" indent="0">
              <a:buNone/>
            </a:pPr>
            <a:endParaRPr lang="en-US" dirty="0"/>
          </a:p>
        </p:txBody>
      </p:sp>
    </p:spTree>
    <p:extLst>
      <p:ext uri="{BB962C8B-B14F-4D97-AF65-F5344CB8AC3E}">
        <p14:creationId xmlns:p14="http://schemas.microsoft.com/office/powerpoint/2010/main" val="695972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0EF8D-9081-288A-E6E5-5F0A1FFE3213}"/>
              </a:ext>
            </a:extLst>
          </p:cNvPr>
          <p:cNvSpPr>
            <a:spLocks noGrp="1"/>
          </p:cNvSpPr>
          <p:nvPr>
            <p:ph type="title"/>
          </p:nvPr>
        </p:nvSpPr>
        <p:spPr/>
        <p:txBody>
          <a:bodyPr/>
          <a:lstStyle/>
          <a:p>
            <a:r>
              <a:rPr lang="en-US" dirty="0"/>
              <a:t>Investment Selection</a:t>
            </a:r>
          </a:p>
        </p:txBody>
      </p:sp>
      <p:sp>
        <p:nvSpPr>
          <p:cNvPr id="3" name="Content Placeholder 2">
            <a:extLst>
              <a:ext uri="{FF2B5EF4-FFF2-40B4-BE49-F238E27FC236}">
                <a16:creationId xmlns:a16="http://schemas.microsoft.com/office/drawing/2014/main" id="{9786E75C-1613-0A99-85EA-84E014C1B890}"/>
              </a:ext>
            </a:extLst>
          </p:cNvPr>
          <p:cNvSpPr>
            <a:spLocks noGrp="1"/>
          </p:cNvSpPr>
          <p:nvPr>
            <p:ph idx="1"/>
          </p:nvPr>
        </p:nvSpPr>
        <p:spPr/>
        <p:txBody>
          <a:bodyPr numCol="2">
            <a:normAutofit fontScale="92500" lnSpcReduction="10000"/>
          </a:bodyPr>
          <a:lstStyle/>
          <a:p>
            <a:pPr algn="l">
              <a:buFont typeface="Arial" panose="020B0604020202020204" pitchFamily="34" charset="0"/>
              <a:buChar char="•"/>
            </a:pPr>
            <a:r>
              <a:rPr lang="en-US" b="1" i="0" dirty="0">
                <a:effectLst/>
              </a:rPr>
              <a:t>Equities</a:t>
            </a:r>
            <a:r>
              <a:rPr lang="en-US" b="0" i="0" dirty="0">
                <a:effectLst/>
              </a:rPr>
              <a:t>:</a:t>
            </a:r>
          </a:p>
          <a:p>
            <a:pPr marL="742950" lvl="1" indent="-285750" algn="l">
              <a:buFont typeface="Arial" panose="020B0604020202020204" pitchFamily="34" charset="0"/>
              <a:buChar char="•"/>
            </a:pPr>
            <a:r>
              <a:rPr lang="en-US" b="0" i="0" dirty="0">
                <a:effectLst/>
              </a:rPr>
              <a:t>S&amp;P 500 Index Fund (20%)</a:t>
            </a:r>
          </a:p>
          <a:p>
            <a:pPr marL="742950" lvl="1" indent="-285750" algn="l">
              <a:buFont typeface="Arial" panose="020B0604020202020204" pitchFamily="34" charset="0"/>
              <a:buChar char="•"/>
            </a:pPr>
            <a:r>
              <a:rPr lang="en-US" b="0" i="0" dirty="0">
                <a:effectLst/>
              </a:rPr>
              <a:t>International Equity Fund (15%)</a:t>
            </a:r>
          </a:p>
          <a:p>
            <a:pPr marL="742950" lvl="1" indent="-285750" algn="l">
              <a:buFont typeface="Arial" panose="020B0604020202020204" pitchFamily="34" charset="0"/>
              <a:buChar char="•"/>
            </a:pPr>
            <a:r>
              <a:rPr lang="en-US" b="0" i="0" dirty="0">
                <a:effectLst/>
              </a:rPr>
              <a:t>Tech Sector ETF (5%)</a:t>
            </a:r>
          </a:p>
          <a:p>
            <a:pPr marL="742950" lvl="1" indent="-285750" algn="l">
              <a:buFont typeface="Arial" panose="020B0604020202020204" pitchFamily="34" charset="0"/>
              <a:buChar char="•"/>
            </a:pPr>
            <a:r>
              <a:rPr lang="en-US" b="0" i="0" dirty="0">
                <a:effectLst/>
              </a:rPr>
              <a:t>Green Energy Fund (5%)</a:t>
            </a:r>
          </a:p>
          <a:p>
            <a:pPr algn="l">
              <a:buFont typeface="Arial" panose="020B0604020202020204" pitchFamily="34" charset="0"/>
              <a:buChar char="•"/>
            </a:pPr>
            <a:r>
              <a:rPr lang="en-US" b="1" i="0" dirty="0">
                <a:effectLst/>
              </a:rPr>
              <a:t>Fixed Income</a:t>
            </a:r>
            <a:r>
              <a:rPr lang="en-US" b="0" i="0" dirty="0">
                <a:effectLst/>
              </a:rPr>
              <a:t>:</a:t>
            </a:r>
          </a:p>
          <a:p>
            <a:pPr marL="742950" lvl="1" indent="-285750" algn="l">
              <a:buFont typeface="Arial" panose="020B0604020202020204" pitchFamily="34" charset="0"/>
              <a:buChar char="•"/>
            </a:pPr>
            <a:r>
              <a:rPr lang="en-US" b="0" i="0" dirty="0">
                <a:effectLst/>
              </a:rPr>
              <a:t>High-Yield Corporate Bond Fund (15%)</a:t>
            </a:r>
          </a:p>
          <a:p>
            <a:pPr marL="742950" lvl="1" indent="-285750" algn="l">
              <a:buFont typeface="Arial" panose="020B0604020202020204" pitchFamily="34" charset="0"/>
              <a:buChar char="•"/>
            </a:pPr>
            <a:r>
              <a:rPr lang="en-US" b="0" i="0" dirty="0">
                <a:effectLst/>
              </a:rPr>
              <a:t>Municipal Bond Fund (15%)</a:t>
            </a:r>
          </a:p>
          <a:p>
            <a:pPr marL="742950" lvl="1" indent="-285750" algn="l">
              <a:buFont typeface="Arial" panose="020B0604020202020204" pitchFamily="34" charset="0"/>
              <a:buChar char="•"/>
            </a:pPr>
            <a:r>
              <a:rPr lang="en-US" b="0" i="0" dirty="0">
                <a:effectLst/>
              </a:rPr>
              <a:t>Total Market Bond Fund (10%)</a:t>
            </a:r>
          </a:p>
          <a:p>
            <a:pPr algn="l">
              <a:buFont typeface="Arial" panose="020B0604020202020204" pitchFamily="34" charset="0"/>
              <a:buChar char="•"/>
            </a:pPr>
            <a:r>
              <a:rPr lang="en-US" b="1" i="0" dirty="0">
                <a:effectLst/>
              </a:rPr>
              <a:t>Real Estate</a:t>
            </a:r>
            <a:r>
              <a:rPr lang="en-US" b="0" i="0" dirty="0">
                <a:effectLst/>
              </a:rPr>
              <a:t>:</a:t>
            </a:r>
          </a:p>
          <a:p>
            <a:pPr marL="742950" lvl="1" indent="-285750" algn="l">
              <a:buFont typeface="Arial" panose="020B0604020202020204" pitchFamily="34" charset="0"/>
              <a:buChar char="•"/>
            </a:pPr>
            <a:r>
              <a:rPr lang="en-US" b="0" i="0" dirty="0">
                <a:effectLst/>
              </a:rPr>
              <a:t>REIT ETF (5%)</a:t>
            </a:r>
          </a:p>
          <a:p>
            <a:pPr algn="l">
              <a:buFont typeface="Arial" panose="020B0604020202020204" pitchFamily="34" charset="0"/>
              <a:buChar char="•"/>
            </a:pPr>
            <a:r>
              <a:rPr lang="en-US" b="1" i="0" dirty="0">
                <a:effectLst/>
              </a:rPr>
              <a:t>Commodities</a:t>
            </a:r>
            <a:r>
              <a:rPr lang="en-US" b="0" i="0" dirty="0">
                <a:effectLst/>
              </a:rPr>
              <a:t>:</a:t>
            </a:r>
          </a:p>
          <a:p>
            <a:pPr marL="742950" lvl="1" indent="-285750" algn="l">
              <a:buFont typeface="Arial" panose="020B0604020202020204" pitchFamily="34" charset="0"/>
              <a:buChar char="•"/>
            </a:pPr>
            <a:r>
              <a:rPr lang="en-US" b="0" i="0" dirty="0">
                <a:effectLst/>
              </a:rPr>
              <a:t>Gold ETF (5%)</a:t>
            </a:r>
          </a:p>
          <a:p>
            <a:pPr algn="l">
              <a:buFont typeface="Arial" panose="020B0604020202020204" pitchFamily="34" charset="0"/>
              <a:buChar char="•"/>
            </a:pPr>
            <a:r>
              <a:rPr lang="en-US" b="1" i="0" dirty="0">
                <a:effectLst/>
              </a:rPr>
              <a:t>Cash and Equivalents</a:t>
            </a:r>
            <a:r>
              <a:rPr lang="en-US" b="0" i="0" dirty="0">
                <a:effectLst/>
              </a:rPr>
              <a:t>:</a:t>
            </a:r>
          </a:p>
          <a:p>
            <a:pPr marL="742950" lvl="1" indent="-285750" algn="l">
              <a:buFont typeface="Arial" panose="020B0604020202020204" pitchFamily="34" charset="0"/>
              <a:buChar char="•"/>
            </a:pPr>
            <a:r>
              <a:rPr lang="en-US" b="0" i="0" dirty="0">
                <a:effectLst/>
              </a:rPr>
              <a:t>Money Market Fund (5%)</a:t>
            </a:r>
          </a:p>
          <a:p>
            <a:endParaRPr lang="en-US" dirty="0"/>
          </a:p>
        </p:txBody>
      </p:sp>
    </p:spTree>
    <p:extLst>
      <p:ext uri="{BB962C8B-B14F-4D97-AF65-F5344CB8AC3E}">
        <p14:creationId xmlns:p14="http://schemas.microsoft.com/office/powerpoint/2010/main" val="2530928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A03CD-0657-EA99-B50E-12BE14B04F64}"/>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id="{6B0E3D7A-3469-6E86-3DC0-79D25B368ADE}"/>
              </a:ext>
            </a:extLst>
          </p:cNvPr>
          <p:cNvSpPr>
            <a:spLocks noGrp="1"/>
          </p:cNvSpPr>
          <p:nvPr>
            <p:ph idx="1"/>
          </p:nvPr>
        </p:nvSpPr>
        <p:spPr/>
        <p:txBody>
          <a:bodyPr/>
          <a:lstStyle/>
          <a:p>
            <a:pPr algn="l">
              <a:buFont typeface="Arial" panose="020B0604020202020204" pitchFamily="34" charset="0"/>
              <a:buChar char="•"/>
            </a:pPr>
            <a:r>
              <a:rPr lang="en-US" b="1" i="0" dirty="0">
                <a:effectLst/>
              </a:rPr>
              <a:t>Diversification Across Asset Classes</a:t>
            </a:r>
            <a:r>
              <a:rPr lang="en-US" b="0" i="0" dirty="0">
                <a:effectLst/>
              </a:rPr>
              <a:t>: Mitigates risk by spreading investments.</a:t>
            </a:r>
          </a:p>
          <a:p>
            <a:pPr algn="l">
              <a:buFont typeface="Arial" panose="020B0604020202020204" pitchFamily="34" charset="0"/>
              <a:buChar char="•"/>
            </a:pPr>
            <a:r>
              <a:rPr lang="en-US" b="1" i="0" dirty="0">
                <a:effectLst/>
              </a:rPr>
              <a:t>Quality Fixed Income Selection</a:t>
            </a:r>
            <a:r>
              <a:rPr lang="en-US" b="0" i="0" dirty="0">
                <a:effectLst/>
              </a:rPr>
              <a:t>: Focus on high-quality bonds to reduce default risk.</a:t>
            </a:r>
          </a:p>
          <a:p>
            <a:pPr algn="l">
              <a:buFont typeface="Arial" panose="020B0604020202020204" pitchFamily="34" charset="0"/>
              <a:buChar char="•"/>
            </a:pPr>
            <a:r>
              <a:rPr lang="en-US" b="1" i="0" dirty="0">
                <a:effectLst/>
              </a:rPr>
              <a:t>Strategic Commodities Investment</a:t>
            </a:r>
            <a:r>
              <a:rPr lang="en-US" b="0" i="0" dirty="0">
                <a:effectLst/>
              </a:rPr>
              <a:t>: Gold as a hedge against inflation and volatility.</a:t>
            </a:r>
          </a:p>
          <a:p>
            <a:pPr algn="l">
              <a:buFont typeface="Arial" panose="020B0604020202020204" pitchFamily="34" charset="0"/>
              <a:buChar char="•"/>
            </a:pPr>
            <a:r>
              <a:rPr lang="en-US" b="1" i="0" dirty="0">
                <a:effectLst/>
              </a:rPr>
              <a:t>Liquidity Management</a:t>
            </a:r>
            <a:r>
              <a:rPr lang="en-US" b="0" i="0" dirty="0">
                <a:effectLst/>
              </a:rPr>
              <a:t>: Maintaining cash reserves for flexibility and emergency needs.</a:t>
            </a:r>
          </a:p>
        </p:txBody>
      </p:sp>
    </p:spTree>
    <p:extLst>
      <p:ext uri="{BB962C8B-B14F-4D97-AF65-F5344CB8AC3E}">
        <p14:creationId xmlns:p14="http://schemas.microsoft.com/office/powerpoint/2010/main" val="483410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BFBB-109C-70E6-4897-C3EB113BDAF6}"/>
              </a:ext>
            </a:extLst>
          </p:cNvPr>
          <p:cNvSpPr>
            <a:spLocks noGrp="1"/>
          </p:cNvSpPr>
          <p:nvPr>
            <p:ph type="title"/>
          </p:nvPr>
        </p:nvSpPr>
        <p:spPr/>
        <p:txBody>
          <a:bodyPr/>
          <a:lstStyle/>
          <a:p>
            <a:r>
              <a:rPr lang="en-US" dirty="0"/>
              <a:t>Next Steps</a:t>
            </a:r>
          </a:p>
        </p:txBody>
      </p:sp>
      <p:graphicFrame>
        <p:nvGraphicFramePr>
          <p:cNvPr id="4" name="Diagram 3">
            <a:extLst>
              <a:ext uri="{FF2B5EF4-FFF2-40B4-BE49-F238E27FC236}">
                <a16:creationId xmlns:a16="http://schemas.microsoft.com/office/drawing/2014/main" id="{A1CDB2BC-B74E-A42A-BA50-B75D560983AC}"/>
              </a:ext>
            </a:extLst>
          </p:cNvPr>
          <p:cNvGraphicFramePr/>
          <p:nvPr>
            <p:extLst>
              <p:ext uri="{D42A27DB-BD31-4B8C-83A1-F6EECF244321}">
                <p14:modId xmlns:p14="http://schemas.microsoft.com/office/powerpoint/2010/main" val="3427465123"/>
              </p:ext>
            </p:extLst>
          </p:nvPr>
        </p:nvGraphicFramePr>
        <p:xfrm>
          <a:off x="1335216" y="942088"/>
          <a:ext cx="9521568"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637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015E7-8752-58F3-0BD2-152D58B81C71}"/>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D2E8DC75-0133-AC2D-D67C-6D58DA247F4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1864033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1651</Words>
  <Application>Microsoft Office PowerPoint</Application>
  <PresentationFormat>Widescreen</PresentationFormat>
  <Paragraphs>82</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Grandview Display</vt:lpstr>
      <vt:lpstr>Söhne</vt:lpstr>
      <vt:lpstr>DashVTI</vt:lpstr>
      <vt:lpstr>Investment Strategy Meeting</vt:lpstr>
      <vt:lpstr>Agenda</vt:lpstr>
      <vt:lpstr>Financial Goals</vt:lpstr>
      <vt:lpstr>Asset Allocation</vt:lpstr>
      <vt:lpstr>Investment Selection</vt:lpstr>
      <vt:lpstr>Risk Management</vt:lpstr>
      <vt:lpstr>Next Steps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Strategy Meeting</dc:title>
  <dc:creator>Shaghayegh Haghbin</dc:creator>
  <cp:lastModifiedBy>Shaghayegh Haghbin [sdwh6702]</cp:lastModifiedBy>
  <cp:revision>6</cp:revision>
  <dcterms:created xsi:type="dcterms:W3CDTF">2024-03-13T01:43:07Z</dcterms:created>
  <dcterms:modified xsi:type="dcterms:W3CDTF">2025-05-03T09:18:57Z</dcterms:modified>
</cp:coreProperties>
</file>